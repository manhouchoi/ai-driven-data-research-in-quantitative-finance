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914400" y="1572768"/>
            <a:ext cx="1037844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2800" b="1" i="0">
                <a:solidFill>
                  <a:srgbClr val="000000"/>
                </a:solidFill>
                <a:latin typeface="Times New Roman"/>
              </a:rPr>
              <a:t>AI-Driven Data Research in Quantitative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32560" y="2263141"/>
            <a:ext cx="932688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0" i="0" dirty="0">
                <a:latin typeface="Times New Roman"/>
              </a:rPr>
              <a:t>SEC Item 1A risk disclosures -&gt; semantic peer graphs -&gt; ST-GAT forecasts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8600" y="3429798"/>
            <a:ext cx="41148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800" b="1" i="0" dirty="0">
                <a:solidFill>
                  <a:srgbClr val="002060"/>
                </a:solidFill>
                <a:latin typeface="Times New Roman"/>
              </a:rPr>
              <a:t>Final Year Project Review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40380" y="4736592"/>
            <a:ext cx="6035040" cy="32004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latin typeface="Times New Roman"/>
              </a:rPr>
              <a:t>CHAN Ho Lam Myles | CHOI Man Hou | TSOI Ching Yi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0" y="5285232"/>
            <a:ext cx="6492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002060"/>
                </a:solidFill>
                <a:latin typeface="Times New Roman"/>
              </a:rPr>
              <a:t>IEDA4920 | HKUST | WorldQuant Consulting (Beijing) Co., Ltd.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56848" y="6355080"/>
            <a:ext cx="384048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thesis: risk text is most useful when treated as topology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project converts annual disclosures into a clean graph-learning experiment.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2560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600" b="1" i="0">
                <a:solidFill>
                  <a:srgbClr val="938600"/>
                </a:solidFill>
                <a:latin typeface="Times New Roman"/>
              </a:rPr>
              <a:t>One empirical 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8800"/>
            <a:ext cx="5486400" cy="9601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2300" b="1" i="0">
                <a:solidFill>
                  <a:srgbClr val="0E2941"/>
                </a:solidFill>
                <a:latin typeface="Times New Roman"/>
              </a:rPr>
              <a:t>Meso-level semantic peer graphs improve OOS forecasting relative to a strict identity baseline.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160020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1581912"/>
            <a:ext cx="41605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Risk disclosures define peers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1892807"/>
            <a:ext cx="41605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Item 1A paragraphs become macro/meso exposure vectors.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5176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633472"/>
            <a:ext cx="41605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Peers define topology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944368"/>
            <a:ext cx="41605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Cosine similarity creates annual semantic risk graphs.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0332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3685032"/>
            <a:ext cx="41605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Topology is tested directly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3995928"/>
            <a:ext cx="41605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74777A"/>
                </a:solidFill>
                <a:latin typeface="Times New Roman"/>
              </a:rPr>
              <a:t>A_t = I removes every off-diagonal peer edge.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main contribution is not another text score; it is a leakage-safe topology test.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problem is alignment: text, time, graph, and target must agree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A finance project fails if the data panel is elegant but mistimed.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920240"/>
            <a:ext cx="1417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0E2941"/>
                </a:solidFill>
                <a:latin typeface="Times New Roman"/>
              </a:rPr>
              <a:t>Item 1A
text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9424" y="2185416"/>
            <a:ext cx="493776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788920" y="1920240"/>
            <a:ext cx="1417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0E2941"/>
                </a:solidFill>
                <a:latin typeface="Times New Roman"/>
              </a:rPr>
              <a:t>Risk
taxonomy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06824" y="2185416"/>
            <a:ext cx="493776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46320" y="1920240"/>
            <a:ext cx="1417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0E2941"/>
                </a:solidFill>
                <a:latin typeface="Times New Roman"/>
              </a:rPr>
              <a:t>Firm-year
vectors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364224" y="2185416"/>
            <a:ext cx="493776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903720" y="1920240"/>
            <a:ext cx="1417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0E2941"/>
                </a:solidFill>
                <a:latin typeface="Times New Roman"/>
              </a:rPr>
              <a:t>Peer
graph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421624" y="2185416"/>
            <a:ext cx="493776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961120" y="1920240"/>
            <a:ext cx="1417320" cy="768096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300" b="1">
                <a:solidFill>
                  <a:srgbClr val="0E2941"/>
                </a:solidFill>
                <a:latin typeface="Times New Roman"/>
              </a:rPr>
              <a:t>Forward
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3756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19272"/>
            <a:ext cx="9372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Availability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630168"/>
            <a:ext cx="9372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Use only information observable before the target window.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087368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069080"/>
            <a:ext cx="9372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Comparability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379976"/>
            <a:ext cx="9372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Keep train, validation, and OOS periods chronological.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837176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818888"/>
            <a:ext cx="93726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Ablation clarity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5129784"/>
            <a:ext cx="93726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Hold financial features fixed and change only graph topology.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experiment is designed around timing discipline before model complexity.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Three questions organize the report and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Each question has a direct artifact and a direct validation test.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18488"/>
            <a:ext cx="640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RQ1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572768"/>
            <a:ext cx="6400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85000" lnSpcReduction="1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Can Item 1A text be mapped into stable macro-meso risk vectors?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600200"/>
            <a:ext cx="28346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74777A"/>
                </a:solidFill>
                <a:latin typeface="Times New Roman"/>
              </a:rPr>
              <a:t>taxonomy and exposure matrices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645920" y="2103120"/>
            <a:ext cx="941832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852928"/>
            <a:ext cx="640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RQ2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2807208"/>
            <a:ext cx="6400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Does semantic risk topology improve return and volatility forecasts?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2834640"/>
            <a:ext cx="28346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74777A"/>
                </a:solidFill>
                <a:latin typeface="Times New Roman"/>
              </a:rPr>
              <a:t>full graph vs. identity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645920" y="3337560"/>
            <a:ext cx="941832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4087368"/>
            <a:ext cx="64008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RQ3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41648"/>
            <a:ext cx="64008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85000" lnSpcReduction="1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Do forecasts carry economically meaningful ranking information?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80"/>
            <a:ext cx="283464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monthly quintile backtest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45920" y="4572000"/>
            <a:ext cx="941832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deck follows the same chain: construct the panel, test the topology, then test ranking value.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workflow is one pipeline, not disconnected 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Every downstream result inherits timing and taxonomy choices from the text pipeline.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38600"/>
                </a:solidFill>
                <a:latin typeface="Times New Roman"/>
              </a:rPr>
              <a:t>Extract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0116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>
                <a:solidFill>
                  <a:srgbClr val="0E2941"/>
                </a:solidFill>
                <a:latin typeface="Times New Roman"/>
              </a:rPr>
              <a:t>SEC Item 1A
risk paragraphs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35808"/>
            <a:ext cx="438912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011680" y="230428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04872" y="1627632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38600"/>
                </a:solidFill>
                <a:latin typeface="Times New Roman"/>
              </a:rPr>
              <a:t>Structure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04872" y="20116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>
                <a:solidFill>
                  <a:srgbClr val="0E2941"/>
                </a:solidFill>
                <a:latin typeface="Times New Roman"/>
              </a:rPr>
              <a:t>dynamic macro/
meso taxonomy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2072" y="3035808"/>
            <a:ext cx="438912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2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913631" y="230428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306824" y="1627632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38600"/>
                </a:solidFill>
                <a:latin typeface="Times New Roman"/>
              </a:rPr>
              <a:t>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06824" y="20116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>
                <a:solidFill>
                  <a:srgbClr val="0E2941"/>
                </a:solidFill>
                <a:latin typeface="Times New Roman"/>
              </a:rPr>
              <a:t>firm-year
exposure vectors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64024" y="3035808"/>
            <a:ext cx="438912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3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815583" y="230428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8776" y="1627632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38600"/>
                </a:solidFill>
                <a:latin typeface="Times New Roman"/>
              </a:rPr>
              <a:t>Connect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08776" y="20116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E2941"/>
                </a:solidFill>
                <a:latin typeface="Times New Roman"/>
              </a:rPr>
              <a:t>semantic peer
risk graph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5976" y="3035808"/>
            <a:ext cx="438912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4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17536" y="230428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10728" y="1627632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38600"/>
                </a:solidFill>
                <a:latin typeface="Times New Roman"/>
              </a:rPr>
              <a:t>Forecast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10728" y="20116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1">
                <a:solidFill>
                  <a:srgbClr val="0E2941"/>
                </a:solidFill>
                <a:latin typeface="Times New Roman"/>
              </a:rPr>
              <a:t>topology-only
ST-GAT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67928" y="3035808"/>
            <a:ext cx="438912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5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9619488" y="230428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12680" y="1627632"/>
            <a:ext cx="14173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938600"/>
                </a:solidFill>
                <a:latin typeface="Times New Roman"/>
              </a:rPr>
              <a:t>Validate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12680" y="2011680"/>
            <a:ext cx="14173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100" b="0">
                <a:solidFill>
                  <a:srgbClr val="0E2941"/>
                </a:solidFill>
                <a:latin typeface="Times New Roman"/>
              </a:rPr>
              <a:t>econometrics +
portfolio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69880" y="3035808"/>
            <a:ext cx="438912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0E2941"/>
                </a:solidFill>
                <a:latin typeface="Times New Roman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" y="4224528"/>
            <a:ext cx="20116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938600"/>
                </a:solidFill>
                <a:latin typeface="Times New Roman"/>
              </a:rPr>
              <a:t>Core design 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599432"/>
            <a:ext cx="9875520" cy="47548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85000" lnSpcReduction="20000"/>
          </a:bodyPr>
          <a:lstStyle/>
          <a:p>
            <a:pPr algn="ctr">
              <a:spcAft>
                <a:spcPts val="0"/>
              </a:spcAft>
            </a:pPr>
            <a:r>
              <a:rPr sz="2100" b="1" i="0">
                <a:solidFill>
                  <a:srgbClr val="0E2941"/>
                </a:solidFill>
                <a:latin typeface="Times New Roman"/>
              </a:rPr>
              <a:t>Risk similarity defines edges; the GAT learns attention weights from topology and financial node features.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report's result tables are interpretable because each stage has an explicit input and output.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85000" lnSpcReduction="100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data pipeline combines disclosures, market data, and validation artifacts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Section 3 of the report is the bridge from raw filings to the ST-GAT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SEC EDGAR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002536"/>
            <a:ext cx="443484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222199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10-K filing histories and Item 1A Risk Factors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Daily market 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002536"/>
            <a:ext cx="4434840" cy="32004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22199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adjusted prices, volume, benchmark prices, and SPY returns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0896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Macro proxies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511296"/>
            <a:ext cx="443484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73075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S&amp;P 500, VIX, and 10-year Treasury yield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3108960"/>
            <a:ext cx="228600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Output artifacts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511296"/>
            <a:ext cx="4434840" cy="32004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3730752"/>
            <a:ext cx="44805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forecast, portfolio, DAV, FMB, and network validation files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4984" y="4233672"/>
            <a:ext cx="987552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51560" y="5017398"/>
            <a:ext cx="987552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51560" y="4306824"/>
            <a:ext cx="3858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Canonical artifact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83479" y="4306824"/>
            <a:ext cx="587044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90872"/>
            <a:ext cx="3858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all_risk_factors_master.csv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79" y="4690872"/>
            <a:ext cx="587044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paragraph-level Item 1A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5074920"/>
            <a:ext cx="3858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risk_scores_macro/meso_annual.csv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79" y="5074920"/>
            <a:ext cx="587044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firm-year textual risk exposures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5458968"/>
            <a:ext cx="385876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fin_data_matrix_enhanced.csv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83479" y="5458968"/>
            <a:ext cx="5870448" cy="3383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financial features and forward targets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data story starts with source traceability before moving to modeling results.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BE7093-1199-7FC4-7BFD-34FD73F0922F}"/>
              </a:ext>
            </a:extLst>
          </p:cNvPr>
          <p:cNvSpPr/>
          <p:nvPr/>
        </p:nvSpPr>
        <p:spPr>
          <a:xfrm>
            <a:off x="1049645" y="5372100"/>
            <a:ext cx="987552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85000" lnSpcReduction="100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SEC Item 1A extraction turns raw 10-K HTML into paragraph-level risk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report describes a four-stage extraction process before any LLM scoring is applied.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9808" y="1572768"/>
            <a:ext cx="1554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38600"/>
                </a:solidFill>
                <a:latin typeface="Times New Roman"/>
              </a:rPr>
              <a:t>Stage 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93852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0E2941"/>
                </a:solidFill>
                <a:latin typeface="Times New Roman"/>
              </a:rPr>
              <a:t>Acquire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670048"/>
            <a:ext cx="1874519" cy="5669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download 10-K HTML
from EDGAR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670048" y="212140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11296" y="1572768"/>
            <a:ext cx="1554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38600"/>
                </a:solidFill>
                <a:latin typeface="Times New Roman"/>
              </a:rPr>
              <a:t>Stage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1296" y="193852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0E2941"/>
                </a:solidFill>
                <a:latin typeface="Times New Roman"/>
              </a:rPr>
              <a:t>Isolate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11296" y="2670048"/>
            <a:ext cx="1874519" cy="5669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extract Item 1A
Risk Factors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31536" y="212140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72784" y="1572768"/>
            <a:ext cx="1554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38600"/>
                </a:solidFill>
                <a:latin typeface="Times New Roman"/>
              </a:rPr>
              <a:t>Stage 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72784" y="193852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0E2941"/>
                </a:solidFill>
                <a:latin typeface="Times New Roman"/>
              </a:rPr>
              <a:t>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2784" y="2670048"/>
            <a:ext cx="1874519" cy="5669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separate headings
and descriptions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193024" y="2121408"/>
            <a:ext cx="438912" cy="182880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34272" y="1572768"/>
            <a:ext cx="1554480" cy="2286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938600"/>
                </a:solidFill>
                <a:latin typeface="Times New Roman"/>
              </a:rPr>
              <a:t>Stage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34272" y="1938528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600" b="1">
                <a:solidFill>
                  <a:srgbClr val="0E2941"/>
                </a:solidFill>
                <a:latin typeface="Times New Roman"/>
              </a:rPr>
              <a:t>Export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2670048"/>
            <a:ext cx="1874519" cy="56692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write company CSVs
and master corpus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078224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3986784"/>
            <a:ext cx="96743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Boundary detection removes table-of-contents references and stops at the next filing item.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507992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1288" y="4416552"/>
            <a:ext cx="96743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Formatting heuristics identify risk headings, subheadings, and paragraph descriptions.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937759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61288" y="4846320"/>
            <a:ext cx="967435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The master CSV is the auditable text corpus used by taxonomy and classification scripts.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NLP model never sees an arbitrary full 10-K; it sees a cleaned Item 1A corpus.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85000" lnSpcReduction="100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Risk scoring converts paragraph labels into normalized firm-year exposures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This is the quantitative representation consumed by the graph construction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664208"/>
            <a:ext cx="21488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Paragraph 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21408"/>
            <a:ext cx="2148840" cy="58521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Company, year, heading,
paragraph 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3544" y="2926080"/>
            <a:ext cx="1481328" cy="36576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2862072" y="2212848"/>
            <a:ext cx="347472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83279" y="1664208"/>
            <a:ext cx="21488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Taxonomy classifier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79" y="2121408"/>
            <a:ext cx="2148840" cy="58521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macro and meso
risk labels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3" y="2926080"/>
            <a:ext cx="1481328" cy="36576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650992" y="2212848"/>
            <a:ext cx="347472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72200" y="1664208"/>
            <a:ext cx="21488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Firm-year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21408"/>
            <a:ext cx="2148840" cy="58521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category counts per
firm-year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01384" y="2926080"/>
            <a:ext cx="1481328" cy="36576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439912" y="2212848"/>
            <a:ext cx="347472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61119" y="1664208"/>
            <a:ext cx="214884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Exposure vector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19" y="2121408"/>
            <a:ext cx="2148840" cy="58521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positive rows sum
to one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90303" y="2926080"/>
            <a:ext cx="1481328" cy="36576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3977639"/>
            <a:ext cx="2743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E2941"/>
                </a:solidFill>
                <a:latin typeface="Times New Roman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416552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macro exposure columns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53712" y="3977639"/>
            <a:ext cx="27432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105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4416552"/>
            <a:ext cx="27432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meso exposure columns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977639"/>
            <a:ext cx="29260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2,387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416552"/>
            <a:ext cx="29260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risk-score firm-year rows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graph is built from normalized risk exposure vectors, not raw legal 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Financial features and forward targets share the same July-to-June clock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This alignment is the main timing safeguard in the supervised forecasting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508760"/>
            <a:ext cx="1088136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66544"/>
            <a:ext cx="1088136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" y="1581912"/>
            <a:ext cx="20756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Feature family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71216" y="1581912"/>
            <a:ext cx="865936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Implemented fields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112264"/>
            <a:ext cx="20756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Firm-specific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1216" y="2112264"/>
            <a:ext cx="865936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Vol, Downside_Vol, MA_200_Ratio, Momentum_11M, Dollar_Volume, Log_Dollar_Volume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642615"/>
            <a:ext cx="20756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Market/macro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71216" y="2642615"/>
            <a:ext cx="865936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SP500_Ret, SP500_Vol, VIX_Avg, VIX_Change, TenY_Yield_Avg, TenY_Yield_Change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" y="3172968"/>
            <a:ext cx="20756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Targets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71216" y="3172968"/>
            <a:ext cx="865936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Target_Ret and Target_Vol over the next July-to-June window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279392"/>
            <a:ext cx="9966960" cy="16459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60120" y="4133087"/>
            <a:ext cx="3977639" cy="493776"/>
          </a:xfrm>
          <a:prstGeom prst="rect">
            <a:avLst/>
          </a:prstGeom>
          <a:solidFill>
            <a:srgbClr val="FFFFFF"/>
          </a:solidFill>
          <a:ln w="1778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" y="4233672"/>
            <a:ext cx="169164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E2941"/>
                </a:solidFill>
                <a:latin typeface="Times New Roman"/>
              </a:rPr>
              <a:t>features + graph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39" y="4233672"/>
            <a:ext cx="2176272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0E2941"/>
                </a:solidFill>
                <a:latin typeface="Times New Roman"/>
              </a:rPr>
              <a:t>July t -&gt; June t+1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62954" y="4096511"/>
            <a:ext cx="4892040" cy="493776"/>
          </a:xfrm>
          <a:prstGeom prst="rect">
            <a:avLst/>
          </a:prstGeom>
          <a:solidFill>
            <a:srgbClr val="FFFFFF"/>
          </a:solidFill>
          <a:ln w="17780">
            <a:solidFill>
              <a:srgbClr val="208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690970" y="4197096"/>
            <a:ext cx="169164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08082"/>
                </a:solidFill>
                <a:latin typeface="Times New Roman"/>
              </a:rPr>
              <a:t>forward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33672"/>
            <a:ext cx="2176272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0E2941"/>
                </a:solidFill>
                <a:latin typeface="Times New Roman"/>
              </a:rPr>
              <a:t>July t+1 -&gt; June t+2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E2941"/>
                </a:solidFill>
                <a:latin typeface="Times New Roman"/>
              </a:rPr>
              <a:t>The target is strictly forward-looking: risk year t predicts the following July-to-June return and volatility.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Sample construction is timed around annual disclosure availability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forecasting panel uses a July-to-June alignment for realized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DATA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" y="1572768"/>
            <a:ext cx="2011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E2941"/>
                </a:solidFill>
                <a:latin typeface="Times New Roman"/>
              </a:rPr>
              <a:t>2,387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11680"/>
            <a:ext cx="2011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risk-score firm-years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572768"/>
            <a:ext cx="201168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485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011680"/>
            <a:ext cx="201168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tickers in risk matrices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572768"/>
            <a:ext cx="24231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2,367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32120" y="2011680"/>
            <a:ext cx="24231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financial feature/target rows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2944368"/>
            <a:ext cx="10012680" cy="16459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2788920"/>
            <a:ext cx="3794760" cy="493776"/>
          </a:xfrm>
          <a:prstGeom prst="rect">
            <a:avLst/>
          </a:prstGeom>
          <a:solidFill>
            <a:srgbClr val="FFFFFF"/>
          </a:solidFill>
          <a:ln w="1778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2889504"/>
            <a:ext cx="118872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E2941"/>
                </a:solidFill>
                <a:latin typeface="Times New Roman"/>
              </a:rPr>
              <a:t>Train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93592" y="2889504"/>
            <a:ext cx="877824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0E2941"/>
                </a:solidFill>
                <a:latin typeface="Times New Roman"/>
              </a:rPr>
              <a:t>2006-2016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17720" y="2788920"/>
            <a:ext cx="2560320" cy="493776"/>
          </a:xfrm>
          <a:prstGeom prst="rect">
            <a:avLst/>
          </a:prstGeom>
          <a:solidFill>
            <a:srgbClr val="FFFFFF"/>
          </a:solidFill>
          <a:ln w="17780">
            <a:solidFill>
              <a:srgbClr val="208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64024" y="2889504"/>
            <a:ext cx="118872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208082"/>
                </a:solidFill>
                <a:latin typeface="Times New Roman"/>
              </a:rPr>
              <a:t>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3912" y="2889504"/>
            <a:ext cx="877824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0E2941"/>
                </a:solidFill>
                <a:latin typeface="Times New Roman"/>
              </a:rPr>
              <a:t>2017-2020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9480" y="2788920"/>
            <a:ext cx="3566160" cy="493776"/>
          </a:xfrm>
          <a:prstGeom prst="rect">
            <a:avLst/>
          </a:prstGeom>
          <a:solidFill>
            <a:srgbClr val="FFFFFF"/>
          </a:solidFill>
          <a:ln w="17780">
            <a:solidFill>
              <a:srgbClr val="938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15783" y="2889504"/>
            <a:ext cx="1188720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938600"/>
                </a:solidFill>
                <a:latin typeface="Times New Roman"/>
              </a:rPr>
              <a:t>OOS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11512" y="2889504"/>
            <a:ext cx="877824" cy="21945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r">
              <a:spcAft>
                <a:spcPts val="0"/>
              </a:spcAft>
            </a:pPr>
            <a:r>
              <a:rPr sz="1300" b="0" i="0">
                <a:solidFill>
                  <a:srgbClr val="0E2941"/>
                </a:solidFill>
                <a:latin typeface="Times New Roman"/>
              </a:rPr>
              <a:t>2021-2024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050791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61288" y="3959352"/>
            <a:ext cx="976579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Standardization and imputation use training-year statistics.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4480559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61288" y="4389120"/>
            <a:ext cx="976579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Model selection uses validation years only.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" y="4910327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61288" y="4818888"/>
            <a:ext cx="976579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Review-submission OOS results use the current exported 2021-2024 panel.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E2941"/>
                </a:solidFill>
                <a:latin typeface="Times New Roman"/>
              </a:rPr>
              <a:t>The key anti-leakage controls are chronological splits, train-only transforms, and forward targets.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Macro explains broad exposure; meso gives the graph usable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strongest forecasting evidence comes from the granular meso topology.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691640"/>
            <a:ext cx="21945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Macro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066543"/>
            <a:ext cx="24688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broad risk families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691640"/>
            <a:ext cx="21945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Meso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3048" y="2066543"/>
            <a:ext cx="26517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specific vulnerabilities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1691640"/>
            <a:ext cx="25603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Firm-year vector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77456" y="2066543"/>
            <a:ext cx="29260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normalized exposure weights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944368" y="1874519"/>
            <a:ext cx="566928" cy="21031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6373368" y="1874519"/>
            <a:ext cx="566928" cy="21031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60120" y="3154680"/>
            <a:ext cx="1010412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960120" y="3657600"/>
            <a:ext cx="1010412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96696" y="3227832"/>
            <a:ext cx="134416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14016" y="3227832"/>
            <a:ext cx="358444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Role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1616" y="3227832"/>
            <a:ext cx="495604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Forecast implication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6696" y="3703320"/>
            <a:ext cx="134416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Macro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14016" y="3703320"/>
            <a:ext cx="358444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Interpretability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3703320"/>
            <a:ext cx="495604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dense graph, broad similarities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6696" y="4178808"/>
            <a:ext cx="134416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Meso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14016" y="4178808"/>
            <a:ext cx="358444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Discrimination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4178808"/>
            <a:ext cx="4956048" cy="42976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sparse graph, cleaner peer links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meso layer is not cosmetic; it changes the graph density and signal-to-noise tradeoff.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Taxonomy evolution is kept as a method claim, not a headline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Coverage percentages are deferred until their source table and rerun script are regenerated.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67512" y="1325880"/>
            <a:ext cx="4892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taxonomy_coverage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" y="1371600"/>
            <a:ext cx="4754879" cy="3566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89320" y="1572768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554480"/>
            <a:ext cx="4572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Detect deviations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65376"/>
            <a:ext cx="45720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Embed new paragraphs and compare them with existing meso centroids.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606039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587751"/>
            <a:ext cx="4572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Cluster emerging themes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898647"/>
            <a:ext cx="45720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Group low-similarity paragraphs into candidate risk concepts.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3639311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621023"/>
            <a:ext cx="4572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Update taxonomy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931920"/>
            <a:ext cx="45720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Use ADD, MERGE, or REORGANIZE decisions before rescoring.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final review report separates the evolution mechanism from unsupported percentage claims.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Risk exposure vectors become annual semantic peer networks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graph is binary and topology-only: edges define peer availability, not edge weights.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68580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0E2941"/>
                </a:solidFill>
                <a:latin typeface="Times New Roman"/>
              </a:rPr>
              <a:t>R_i,t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331720"/>
            <a:ext cx="13258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firm-year risk vector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28800" y="1984248"/>
            <a:ext cx="566928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514600" y="1691640"/>
            <a:ext cx="1965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cosine similarity
between firms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663440" y="1984248"/>
            <a:ext cx="566928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376672" y="1691640"/>
            <a:ext cx="1920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threshold by year
and layer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479792" y="1984248"/>
            <a:ext cx="566928" cy="20116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719072"/>
            <a:ext cx="2331720" cy="621792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Times New Roman"/>
              </a:rPr>
              <a:t>A_t = I + A_risk,t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502152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52728" y="3410712"/>
            <a:ext cx="949147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Self-loops are always included.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3931920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2728" y="3840480"/>
            <a:ext cx="949147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Off-diagonal edges are generated only from risk exposure similarity.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4361688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2728" y="4270248"/>
            <a:ext cx="949147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Identity baseline keeps only self-loops and removes textual peer information.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E2941"/>
                </a:solidFill>
                <a:latin typeface="Times New Roman"/>
              </a:rPr>
              <a:t>The graph tests whether disclosure-implied peers help after own-firm features are already present.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Topology-only ST-GAT learns from peer structure and temporal history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Spatial attention is applied over annual risk-peer graphs, then forecasted through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572768"/>
            <a:ext cx="685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38600"/>
                </a:solidFill>
                <a:latin typeface="Times New Roman"/>
              </a:rPr>
              <a:t>X_t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965960"/>
            <a:ext cx="1600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financial
node features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40864" y="2258568"/>
            <a:ext cx="411480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46120" y="1572768"/>
            <a:ext cx="685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38600"/>
                </a:solidFill>
                <a:latin typeface="Times New Roman"/>
              </a:rPr>
              <a:t>A_t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1965960"/>
            <a:ext cx="1600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risk graph
snapshot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581144" y="2258568"/>
            <a:ext cx="411480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0" y="1572768"/>
            <a:ext cx="685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38600"/>
                </a:solidFill>
                <a:latin typeface="Times New Roman"/>
              </a:rPr>
              <a:t>H_t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8" y="1965960"/>
            <a:ext cx="1600200" cy="804672"/>
          </a:xfrm>
          <a:prstGeom prst="rect">
            <a:avLst/>
          </a:prstGeom>
          <a:solidFill>
            <a:srgbClr val="F2F4F5"/>
          </a:solidFill>
          <a:ln w="12700">
            <a:solidFill>
              <a:srgbClr val="0E29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GATConv
spatial encoder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21424" y="2258568"/>
            <a:ext cx="411480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26680" y="1572768"/>
            <a:ext cx="685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38600"/>
                </a:solidFill>
                <a:latin typeface="Times New Roman"/>
              </a:rPr>
              <a:t>H_1:T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79208" y="1965960"/>
            <a:ext cx="1600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temporal
forecaster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061704" y="2258568"/>
            <a:ext cx="411480" cy="164592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0" y="1572768"/>
            <a:ext cx="6858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938600"/>
                </a:solidFill>
                <a:latin typeface="Times New Roman"/>
              </a:rPr>
              <a:t>y_hat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19488" y="1965960"/>
            <a:ext cx="1600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r>
              <a:rPr sz="1200" b="1">
                <a:solidFill>
                  <a:srgbClr val="0E2941"/>
                </a:solidFill>
                <a:latin typeface="Times New Roman"/>
              </a:rPr>
              <a:t>return + vol
heads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3429000"/>
            <a:ext cx="1001268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1051560" y="3895344"/>
            <a:ext cx="1001268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" y="3502152"/>
            <a:ext cx="317296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Design element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34255" y="3502152"/>
            <a:ext cx="669340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Purpose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" y="3941064"/>
            <a:ext cx="317296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Masked multi-task Huber loss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34255" y="3941064"/>
            <a:ext cx="669340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joint return and volatility training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" y="4379976"/>
            <a:ext cx="317296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Chronological graph snapshots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4379976"/>
            <a:ext cx="669340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no random cross-sectional split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8136" y="4818888"/>
            <a:ext cx="317296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Validation-only Optuna tuning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5" y="4818888"/>
            <a:ext cx="6693408" cy="3931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model selection before OOS review period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model is advanced, but the experiment remains interpretable because the ablation is simple.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identity baseline is the cleanest spatial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Only off-diagonal peer edges change between the full graph and the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691640"/>
            <a:ext cx="23774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Full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76272"/>
            <a:ext cx="23774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08082"/>
                </a:solidFill>
                <a:latin typeface="Times New Roman"/>
              </a:rPr>
              <a:t>A_t = I + A_risk,t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04288" y="2880360"/>
            <a:ext cx="109728" cy="1463040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554480" y="3611880"/>
            <a:ext cx="1600200" cy="109728"/>
          </a:xfrm>
          <a:prstGeom prst="rect">
            <a:avLst/>
          </a:prstGeom>
          <a:solidFill>
            <a:srgbClr val="208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526280"/>
            <a:ext cx="27432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risk-peer edges active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15968" y="3063240"/>
            <a:ext cx="1005840" cy="219456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041648" y="3429000"/>
            <a:ext cx="1600200" cy="32918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remove off-diagonal edges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23774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76272"/>
            <a:ext cx="23774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700" b="1" i="0">
                <a:solidFill>
                  <a:srgbClr val="208082"/>
                </a:solidFill>
                <a:latin typeface="Times New Roman"/>
              </a:rPr>
              <a:t>A_t = 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2880360"/>
            <a:ext cx="109728" cy="1463040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8" y="4526280"/>
            <a:ext cx="27432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self-loops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64592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1627632"/>
            <a:ext cx="1645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E2941"/>
                </a:solidFill>
                <a:latin typeface="Times New Roman"/>
              </a:rPr>
              <a:t>Same feature panel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1938528"/>
            <a:ext cx="1645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74777A"/>
                </a:solidFill>
                <a:latin typeface="Times New Roman"/>
              </a:rPr>
              <a:t>The comparison does not swap in a different feature set.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761488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743200"/>
            <a:ext cx="1645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E2941"/>
                </a:solidFill>
                <a:latin typeface="Times New Roman"/>
              </a:rPr>
              <a:t>Same model family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3054096"/>
            <a:ext cx="1645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74777A"/>
                </a:solidFill>
                <a:latin typeface="Times New Roman"/>
              </a:rPr>
              <a:t>The comparison does not rely on a weaker baseline architecture.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877056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0" y="3858768"/>
            <a:ext cx="164592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1" i="0">
                <a:solidFill>
                  <a:srgbClr val="0E2941"/>
                </a:solidFill>
                <a:latin typeface="Times New Roman"/>
              </a:rPr>
              <a:t>Different topology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4169664"/>
            <a:ext cx="164592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74777A"/>
                </a:solidFill>
                <a:latin typeface="Times New Roman"/>
              </a:rPr>
              <a:t>Forecast gains can be attributed to semantic peer links.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This baseline makes the central topology claim defensible.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model-selection path stops before OOS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Hyperparameters are chosen on validation years, then evaluated on the review panel.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572768"/>
            <a:ext cx="1056132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1056132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3816" y="1645920"/>
            <a:ext cx="17556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1645920"/>
            <a:ext cx="19842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0016" y="1645920"/>
            <a:ext cx="660196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What happens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2194560"/>
            <a:ext cx="17556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42616" y="2194560"/>
            <a:ext cx="19842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2006-2016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6" y="2194560"/>
            <a:ext cx="660196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fit model, scaling, imputation statistics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" y="2743200"/>
            <a:ext cx="17556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2616" y="2743200"/>
            <a:ext cx="19842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2017-2020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0016" y="2743200"/>
            <a:ext cx="660196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Optuna selection and early stopping signal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" y="3291839"/>
            <a:ext cx="17556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OOS review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42616" y="3291839"/>
            <a:ext cx="198424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2021-2024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0016" y="3291839"/>
            <a:ext cx="6601968" cy="502919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reported forecast and portfolio diagnostics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" y="4233672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61288" y="4142232"/>
            <a:ext cx="940003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No random split is used for the main reported forecasting experiment.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0120" y="4663440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61288" y="4572000"/>
            <a:ext cx="940003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Forward return and volatility targets are constructed after the feature year.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0120" y="5093207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61288" y="5001768"/>
            <a:ext cx="940003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Portfolio formation uses model signals before realized holding-period returns.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review-submission results are OOS relative to the tuning period.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Macro and meso graphs test a resolution tradeoff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Broad categories increase coverage; granular categories reduce noisy peer links.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EXPERIMENT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27432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Macro 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3749039" cy="6217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74777A"/>
                </a:solidFill>
                <a:latin typeface="Times New Roman"/>
              </a:rPr>
              <a:t>3,900-4,460 OOS edges/year
about 5.1%-5.5% density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645920"/>
            <a:ext cx="274320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Meso graph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114800" cy="62179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600" b="0" i="0">
                <a:solidFill>
                  <a:srgbClr val="74777A"/>
                </a:solidFill>
                <a:latin typeface="Times New Roman"/>
              </a:rPr>
              <a:t>38-118 OOS edges/year
below 0.14% active-node density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49824" y="1508760"/>
            <a:ext cx="27432" cy="329184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22860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938600"/>
                </a:solidFill>
                <a:latin typeface="Times New Roman"/>
              </a:rPr>
              <a:t>Broad similarity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24528"/>
            <a:ext cx="402336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0E2941"/>
                </a:solidFill>
                <a:latin typeface="Times New Roman"/>
              </a:rPr>
              <a:t>high connectivity, weaker discrimination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840480"/>
            <a:ext cx="23774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938600"/>
                </a:solidFill>
                <a:latin typeface="Times New Roman"/>
              </a:rPr>
              <a:t>Specific similarity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224528"/>
            <a:ext cx="420624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0E2941"/>
                </a:solidFill>
                <a:latin typeface="Times New Roman"/>
              </a:rPr>
              <a:t>sparse connectivity, cleaner peer selection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meso graph is sparse enough that improvements are not just dense smoothing.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Meso ST-GAT improves the core OOS forecasting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strongest verified model specification is the meso full graph.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18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19" y="1307592"/>
            <a:ext cx="6675120" cy="4535424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oos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260412"/>
            <a:ext cx="6583680" cy="26297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07808" y="1627632"/>
            <a:ext cx="3749039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E2941"/>
                </a:solidFill>
                <a:latin typeface="Times New Roman"/>
              </a:rPr>
              <a:t>0.3345 -&gt; 0.3001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07808" y="2066543"/>
            <a:ext cx="374903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averaged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07808" y="2587752"/>
            <a:ext cx="3749039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0.2314 -&gt; 0.1991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3026664"/>
            <a:ext cx="374903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averaged MAE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3547872"/>
            <a:ext cx="3749039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-0.0139 -&gt; 0.1701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07808" y="3986783"/>
            <a:ext cx="374903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averaged Spearman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headline result is a verified OOS comparison against the identity baseline.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clearest forecasting gain is in volatility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Risk disclosures naturally align with realized risk outcomes more than point-return forecasts.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19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4023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E2941"/>
                </a:solidFill>
                <a:latin typeface="Times New Roman"/>
              </a:rPr>
              <a:t>0.2240 -&gt; 0.1565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4023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volatility RMSE, identity to meso ST-GAT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4023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-0.1351 -&gt; 0.1770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227832"/>
            <a:ext cx="4023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volatility Spearman rank correlation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77639"/>
            <a:ext cx="402336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938600"/>
                </a:solidFill>
                <a:latin typeface="Times New Roman"/>
              </a:rPr>
              <a:t>topology-only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16552"/>
            <a:ext cx="402336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edge information enters as peer structure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691640"/>
            <a:ext cx="530352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2249424"/>
            <a:ext cx="530352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797296" y="1764792"/>
            <a:ext cx="285292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Interpretation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1764792"/>
            <a:ext cx="23042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Evidence strength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296" y="2295144"/>
            <a:ext cx="285292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Volatility forecast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295144"/>
            <a:ext cx="23042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strongest verified improvement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97296" y="2825496"/>
            <a:ext cx="285292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Return forecast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825496"/>
            <a:ext cx="23042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>ranking signal is suggestive but noisier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97296" y="3355848"/>
            <a:ext cx="285292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Portfolio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3355848"/>
            <a:ext cx="2304288" cy="484631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economic extension, not trading claim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E2941"/>
                </a:solidFill>
                <a:latin typeface="Times New Roman"/>
              </a:rPr>
              <a:t>The report should emphasize risk forecasting and ranking separability, not causal trading language.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Graph density explains why meso topology is more informative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Sparse meso links concentrate attention on high-confidence textual peers.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20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7" y="1280160"/>
            <a:ext cx="653795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graph_density_macro_mes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242427"/>
            <a:ext cx="6446520" cy="26474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71231" y="178308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74152" y="176479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74152" y="2075688"/>
            <a:ext cx="33832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Dense enough to blur many broad risk-family similarities.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71231" y="2834639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74152" y="2816351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Meso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4152" y="3127247"/>
            <a:ext cx="33832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Sparse enough to behave like a peer-selection mechanism.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71231" y="388620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74152" y="3867912"/>
            <a:ext cx="338328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Forecast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74152" y="4178808"/>
            <a:ext cx="338328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000" b="0" i="0">
                <a:solidFill>
                  <a:srgbClr val="74777A"/>
                </a:solidFill>
                <a:latin typeface="Times New Roman"/>
              </a:rPr>
              <a:t>Resolution improves the quality of the graph, not only its size.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graph-density diagnostic supports the report's macro-versus-meso interpretation.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Portfolio tests translate annual forecasts into monthly ranking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This is an academic validation layer, not a live-trading recommendation.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21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240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Annual ST-GAT forecast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7627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74777A"/>
                </a:solidFill>
                <a:latin typeface="Times New Roman"/>
              </a:rPr>
              <a:t>forward return and volatility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69848" y="2852928"/>
            <a:ext cx="1463040" cy="36576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ight Arrow 10"/>
          <p:cNvSpPr/>
          <p:nvPr/>
        </p:nvSpPr>
        <p:spPr>
          <a:xfrm>
            <a:off x="3008376" y="2212848"/>
            <a:ext cx="310896" cy="15544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47288" y="1737360"/>
            <a:ext cx="2240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Score firms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47288" y="217627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return-only, return-over-vol, composite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31336" y="2852928"/>
            <a:ext cx="1463040" cy="36576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ight Arrow 14"/>
          <p:cNvSpPr/>
          <p:nvPr/>
        </p:nvSpPr>
        <p:spPr>
          <a:xfrm>
            <a:off x="5769864" y="2212848"/>
            <a:ext cx="310896" cy="15544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08776" y="1737360"/>
            <a:ext cx="2240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Form quintiles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08776" y="217627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74777A"/>
                </a:solidFill>
                <a:latin typeface="Times New Roman"/>
              </a:rPr>
              <a:t>top, bottom, and long-short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92824" y="2852928"/>
            <a:ext cx="1463040" cy="36576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ight Arrow 18"/>
          <p:cNvSpPr/>
          <p:nvPr/>
        </p:nvSpPr>
        <p:spPr>
          <a:xfrm>
            <a:off x="8531352" y="2212848"/>
            <a:ext cx="310896" cy="155448"/>
          </a:xfrm>
          <a:prstGeom prst="rightArrow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970264" y="1737360"/>
            <a:ext cx="2240280" cy="2743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0E2941"/>
                </a:solidFill>
                <a:latin typeface="Times New Roman"/>
              </a:rPr>
              <a:t>Rebalance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70264" y="2176272"/>
            <a:ext cx="2240280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74777A"/>
                </a:solidFill>
                <a:latin typeface="Times New Roman"/>
              </a:rPr>
              <a:t>10 bps cost + 5 bps slippage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54312" y="2852928"/>
            <a:ext cx="1463040" cy="36576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960120" y="3959352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61288" y="3867912"/>
            <a:ext cx="949147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Signal timing follows the annual forecast and realized holding-period month.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" y="4389120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61288" y="4297680"/>
            <a:ext cx="949147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Top-minus-bottom spreads diagnose cross-sectional ranking value.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4818888"/>
            <a:ext cx="73152" cy="73152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61288" y="4727448"/>
            <a:ext cx="9491472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Times New Roman"/>
              </a:rPr>
              <a:t>Transaction costs are included before final performance metrics.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backtest is useful because it checks whether forecast rankings survive portfolio formation.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best ST-GAT ranking portfolio is economically suggestive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Performance is reported as validation evidence, with short-sample caveats.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22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07592"/>
            <a:ext cx="6720840" cy="4526279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ortfolio_equit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37156"/>
            <a:ext cx="6629400" cy="38671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1425505"/>
            <a:ext cx="3657600" cy="56788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600" b="1" i="0" dirty="0">
                <a:solidFill>
                  <a:srgbClr val="0E2941"/>
                </a:solidFill>
                <a:latin typeface="Times New Roman"/>
              </a:rPr>
              <a:t>GAT </a:t>
            </a:r>
            <a:r>
              <a:rPr sz="1600" b="1" i="0" dirty="0" err="1">
                <a:solidFill>
                  <a:srgbClr val="0E2941"/>
                </a:solidFill>
                <a:latin typeface="Times New Roman"/>
              </a:rPr>
              <a:t>LongShort</a:t>
            </a:r>
            <a:r>
              <a:rPr sz="1600" b="1" i="0" dirty="0">
                <a:solidFill>
                  <a:srgbClr val="0E2941"/>
                </a:solidFill>
                <a:latin typeface="Times New Roman"/>
              </a:rPr>
              <a:t> </a:t>
            </a:r>
            <a:r>
              <a:rPr sz="1600" b="1" i="0" dirty="0" err="1">
                <a:solidFill>
                  <a:srgbClr val="0E2941"/>
                </a:solidFill>
                <a:latin typeface="Times New Roman"/>
              </a:rPr>
              <a:t>TopBottomQuintile</a:t>
            </a:r>
            <a:r>
              <a:rPr sz="1600" b="1" i="0" dirty="0">
                <a:solidFill>
                  <a:srgbClr val="0E2941"/>
                </a:solidFill>
                <a:latin typeface="Times New Roman"/>
              </a:rPr>
              <a:t> return 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93391"/>
            <a:ext cx="36576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best 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35240" y="2423160"/>
            <a:ext cx="3657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7.93%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2862072"/>
            <a:ext cx="36576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annualized return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3291839"/>
            <a:ext cx="3657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1.06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3730752"/>
            <a:ext cx="36576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Sharpe ratio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160520"/>
            <a:ext cx="36576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-6.90%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35240" y="4599431"/>
            <a:ext cx="36576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max drawdown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Portfolio evidence supports ranking value but is not presented as deployable alpha.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9445752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/>
          </a:bodyPr>
          <a:lstStyle/>
          <a:p>
            <a:pPr>
              <a:spcAft>
                <a:spcPts val="0"/>
              </a:spcAft>
            </a:pPr>
            <a:r>
              <a:rPr sz="2200" b="1" i="0" dirty="0">
                <a:solidFill>
                  <a:srgbClr val="0E2941"/>
                </a:solidFill>
                <a:latin typeface="Times New Roman"/>
              </a:rPr>
              <a:t>Top-minus-bottom spreads test whether the ranking separates winners from losers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return-only ST-GAT signal has the strongest spread result in the current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PORTFOLIO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23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12647" y="1280160"/>
            <a:ext cx="6263640" cy="4526279"/>
          </a:xfrm>
          <a:prstGeom prst="rect">
            <a:avLst/>
          </a:prstGeom>
          <a:solidFill>
            <a:srgbClr val="FFFFFF"/>
          </a:solidFill>
          <a:ln w="12700">
            <a:solidFill>
              <a:srgbClr val="CDD3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portfolio_top_bottom_sp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10276"/>
            <a:ext cx="6172200" cy="36660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60920" y="1691640"/>
            <a:ext cx="3977639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E2941"/>
                </a:solidFill>
                <a:latin typeface="Times New Roman"/>
              </a:rPr>
              <a:t>17.69%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2130552"/>
            <a:ext cx="397763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annualized top-minus-bottom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651760"/>
            <a:ext cx="3977639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2.18 / 0.034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3090672"/>
            <a:ext cx="397763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simple t-stat / p-value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3611880"/>
            <a:ext cx="3977639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2.54 / 0.049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60920" y="4050791"/>
            <a:ext cx="3977639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HAC t-stat / q-value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4800600"/>
            <a:ext cx="3977639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74777A"/>
                </a:solidFill>
                <a:latin typeface="Times New Roman"/>
              </a:rPr>
              <a:t>Interpretation remains conservative: short sample, multiple comparisons, and academic backtest design.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spread test is a useful economic diagnostic, not proof of live-trading profitability.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Econometric appendices are treated conservatively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New DAV peak files add useful diagnostics but do not overturn the main ST-GAT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24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60020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0E2941"/>
                </a:solidFill>
                <a:latin typeface="Times New Roman"/>
              </a:rPr>
              <a:t>93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DAV peak figures parsed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208082"/>
                </a:solidFill>
                <a:latin typeface="Times New Roman"/>
              </a:rPr>
              <a:t>20 / 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82112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positive / negative peak improvements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886200"/>
            <a:ext cx="3200400" cy="41148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2700" b="1" i="0">
                <a:solidFill>
                  <a:srgbClr val="C00000"/>
                </a:solidFill>
                <a:latin typeface="Times New Roman"/>
              </a:rPr>
              <a:t>-2.40%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25112"/>
            <a:ext cx="3200400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0" i="0">
                <a:solidFill>
                  <a:srgbClr val="74777A"/>
                </a:solidFill>
                <a:latin typeface="Times New Roman"/>
              </a:rPr>
              <a:t>mean peak-improvement diagnostic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64592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162763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Use as a diagnostic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1938528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0" i="0">
                <a:solidFill>
                  <a:srgbClr val="74777A"/>
                </a:solidFill>
                <a:latin typeface="Times New Roman"/>
              </a:rPr>
              <a:t>DAV peak outputs describe a robustness experiment.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74320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272491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Avoid headline overclaiming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77840" y="3035808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The distribution is mixed and should not be framed as broad outperformance.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840480"/>
            <a:ext cx="329184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 algn="ctr">
              <a:spcAft>
                <a:spcPts val="0"/>
              </a:spcAft>
            </a:pPr>
            <a:r>
              <a:rPr sz="22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3822192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>
              <a:spcAft>
                <a:spcPts val="0"/>
              </a:spcAft>
            </a:pPr>
            <a:r>
              <a:rPr sz="1700" b="1" i="0">
                <a:solidFill>
                  <a:srgbClr val="0E2941"/>
                </a:solidFill>
                <a:latin typeface="Times New Roman"/>
              </a:rPr>
              <a:t>Keep appendix language precise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77840" y="4133088"/>
            <a:ext cx="548640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FMB, SAR, and DAV BIC tables remain deferred when source tables are missing.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400" b="1" i="0">
                <a:solidFill>
                  <a:srgbClr val="0E2941"/>
                </a:solidFill>
                <a:latin typeface="Times New Roman"/>
              </a:rPr>
              <a:t>The report now separates verified main results from appendix material needing complete regeneration.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The final findings are narrower and stronger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The presentation foregrounds claims supported by current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25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347472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38600"/>
                </a:solidFill>
                <a:latin typeface="Times New Roman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72184"/>
            <a:ext cx="95097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1" i="0">
                <a:solidFill>
                  <a:srgbClr val="0E2941"/>
                </a:solidFill>
                <a:latin typeface="Times New Roman"/>
              </a:rPr>
              <a:t>Meso ST-GAT is the strongest verified forecasting specification.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920240"/>
            <a:ext cx="932688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347472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38600"/>
                </a:solidFill>
                <a:latin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276856"/>
            <a:ext cx="95097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0E2941"/>
                </a:solidFill>
                <a:latin typeface="Times New Roman"/>
              </a:rPr>
              <a:t>Granular risk topology creates sparse, high-confidence semantic peer links.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508760" y="2724912"/>
            <a:ext cx="932688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090672"/>
            <a:ext cx="347472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38600"/>
                </a:solidFill>
                <a:latin typeface="Times New Roman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081528"/>
            <a:ext cx="95097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0E2941"/>
                </a:solidFill>
                <a:latin typeface="Times New Roman"/>
              </a:rPr>
              <a:t>The identity baseline makes the spatial ablation clean.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08760" y="3529584"/>
            <a:ext cx="932688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895344"/>
            <a:ext cx="347472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38600"/>
                </a:solidFill>
                <a:latin typeface="Times New Roman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886200"/>
            <a:ext cx="95097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0E2941"/>
                </a:solidFill>
                <a:latin typeface="Times New Roman"/>
              </a:rPr>
              <a:t>Volatility forecasting evidence is stronger than return point forecasting.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508760" y="4334256"/>
            <a:ext cx="932688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700016"/>
            <a:ext cx="347472" cy="292608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20000"/>
          </a:bodyPr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938600"/>
                </a:solidFill>
                <a:latin typeface="Times New Roman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690872"/>
            <a:ext cx="950976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 lnSpcReduction="10000"/>
          </a:bodyPr>
          <a:lstStyle/>
          <a:p>
            <a:pPr>
              <a:spcAft>
                <a:spcPts val="0"/>
              </a:spcAft>
            </a:pPr>
            <a:r>
              <a:rPr sz="1900" b="0" i="0">
                <a:solidFill>
                  <a:srgbClr val="0E2941"/>
                </a:solidFill>
                <a:latin typeface="Times New Roman"/>
              </a:rPr>
              <a:t>Portfolio results are economically suggestive but interpreted as academic validation.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08760" y="5138928"/>
            <a:ext cx="9326880" cy="10972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The strongest story is precise, reproducible, and modest about inference.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2608" y="228600"/>
            <a:ext cx="8138160" cy="384048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2200" b="1" i="0">
                <a:solidFill>
                  <a:srgbClr val="0E2941"/>
                </a:solidFill>
                <a:latin typeface="Times New Roman"/>
              </a:rPr>
              <a:t>Limitations are explicit rather than hidden in appendix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" y="685800"/>
            <a:ext cx="877824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0" i="0">
                <a:solidFill>
                  <a:srgbClr val="74777A"/>
                </a:solidFill>
                <a:latin typeface="Times New Roman"/>
              </a:rPr>
              <a:t>Unsupported numerical claims are framed as future validation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38360" y="292608"/>
            <a:ext cx="150876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938600"/>
                </a:solidFill>
                <a:latin typeface="Times New Roman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84280" y="246888"/>
            <a:ext cx="384048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74777A"/>
                </a:solidFill>
                <a:latin typeface="Times New Roman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" y="1060704"/>
            <a:ext cx="11292840" cy="18288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92608" y="1088136"/>
            <a:ext cx="2926080" cy="32004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13232" y="1554480"/>
            <a:ext cx="10561320" cy="32004"/>
          </a:xfrm>
          <a:prstGeom prst="rect">
            <a:avLst/>
          </a:prstGeom>
          <a:solidFill>
            <a:srgbClr val="0E29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13232" y="2084832"/>
            <a:ext cx="10561320" cy="13716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627632"/>
            <a:ext cx="294436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67328" y="1627632"/>
            <a:ext cx="747064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200" b="1" i="0">
                <a:solidFill>
                  <a:srgbClr val="0E2941"/>
                </a:solidFill>
                <a:latin typeface="Times New Roman"/>
              </a:rPr>
              <a:t>Current treatment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30552"/>
            <a:ext cx="294436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Taxonomy coverage percentages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130552"/>
            <a:ext cx="747064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deferred until source table and rerun script are present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633472"/>
            <a:ext cx="294436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AAPL migration case study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633472"/>
            <a:ext cx="747064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future case-study artifact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136392"/>
            <a:ext cx="294436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Fama-MacBeth and SAR tables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136392"/>
            <a:ext cx="747064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methodology extensions unless regenerated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639312"/>
            <a:ext cx="294436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DAV BIC benchmark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639312"/>
            <a:ext cx="747064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deferred; DAV peak diagnostics are mixed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8" y="4142232"/>
            <a:ext cx="294436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Portfolio 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67328" y="4142232"/>
            <a:ext cx="7470648" cy="457200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academic ranking validation, not investment advice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" y="6016752"/>
            <a:ext cx="10954512" cy="22860"/>
          </a:xfrm>
          <a:prstGeom prst="rect">
            <a:avLst/>
          </a:prstGeom>
          <a:solidFill>
            <a:srgbClr val="CDD3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" y="6190488"/>
            <a:ext cx="1097280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100" b="1" i="0">
                <a:solidFill>
                  <a:srgbClr val="938600"/>
                </a:solidFill>
                <a:latin typeface="Times New Roman"/>
              </a:rPr>
              <a:t>Takeaway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8" y="6126480"/>
            <a:ext cx="9646920" cy="34747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>
              <a:spcAft>
                <a:spcPts val="0"/>
              </a:spcAft>
            </a:pPr>
            <a:r>
              <a:rPr sz="1500" b="1" i="0">
                <a:solidFill>
                  <a:srgbClr val="0E2941"/>
                </a:solidFill>
                <a:latin typeface="Times New Roman"/>
              </a:rPr>
              <a:t>This slide is intentionally reviewer-facing: it shows research integrity, not weakness.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7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8368" y="1170432"/>
            <a:ext cx="10881360" cy="18288"/>
          </a:xfrm>
          <a:prstGeom prst="rect">
            <a:avLst/>
          </a:prstGeom>
          <a:solidFill>
            <a:srgbClr val="938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1993392"/>
            <a:ext cx="10424160" cy="731520"/>
          </a:xfrm>
          <a:prstGeom prst="rect">
            <a:avLst/>
          </a:prstGeom>
          <a:noFill/>
        </p:spPr>
        <p:txBody>
          <a:bodyPr wrap="square" lIns="27432" tIns="18288" rIns="27432" bIns="18288">
            <a:normAutofit fontScale="92500" lnSpcReduction="10000"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Times New Roman"/>
              </a:rPr>
              <a:t>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57400" y="3035808"/>
            <a:ext cx="8046720" cy="310896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DED48E"/>
                </a:solidFill>
                <a:latin typeface="Times New Roman"/>
              </a:rPr>
              <a:t>Discussion: taxonomy design, identity ablation, OOS evidence, and portfolio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34640" y="5870448"/>
            <a:ext cx="6492240" cy="256032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Times New Roman"/>
              </a:rPr>
              <a:t>AI-Driven Data Research in Quantitative 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56848" y="6355080"/>
            <a:ext cx="384048" cy="237744"/>
          </a:xfrm>
          <a:prstGeom prst="rect">
            <a:avLst/>
          </a:prstGeom>
          <a:noFill/>
        </p:spPr>
        <p:txBody>
          <a:bodyPr wrap="square" lIns="27432" tIns="18288" rIns="27432" bIns="18288">
            <a:normAutofit/>
          </a:bodyPr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Times New Roman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2386</Words>
  <Application>Microsoft Macintosh PowerPoint</Application>
  <PresentationFormat>Widescreen</PresentationFormat>
  <Paragraphs>467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CHOI Man Hou</cp:lastModifiedBy>
  <cp:revision>2</cp:revision>
  <dcterms:created xsi:type="dcterms:W3CDTF">2013-01-27T09:14:16Z</dcterms:created>
  <dcterms:modified xsi:type="dcterms:W3CDTF">2026-04-27T08:21:39Z</dcterms:modified>
  <cp:category/>
</cp:coreProperties>
</file>